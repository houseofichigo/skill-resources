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this deck teaches a durable decision process, not a list of model names. Any list of names is stale within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classic failure: someone buys the most expensive subscription and still cannot do the task, because the task needed a connector or a file tool, not more intelligence.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1 and 2 settle most real cases before model quality is ever discussed.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7 overrides everything above it. Getting this wrong is worse than using a slightly weaker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ladder is durable. The names and price gaps change every few weeks — look them up before quoting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placed late in the deck and marked as perishable. Everything before it stays true; this slide will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3716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FA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CAPABILITY · DECISION GUIDE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828800"/>
            <a:ext cx="9692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200"/>
              </a:lnSpc>
              <a:buNone/>
            </a:pPr>
            <a:r>
              <a:rPr lang="en-US" sz="5400" spc="-14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Which AI should you </a:t>
            </a:r>
            <a:pPr indent="0" marL="0">
              <a:lnSpc>
                <a:spcPts val="6200"/>
              </a:lnSpc>
              <a:buNone/>
            </a:pPr>
            <a:r>
              <a:rPr lang="en-US" sz="5400" b="1" spc="-140" kern="0" dirty="0">
                <a:solidFill>
                  <a:srgbClr val="7FA0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actually</a:t>
            </a:r>
            <a:pPr indent="0" marL="0">
              <a:lnSpc>
                <a:spcPts val="6200"/>
              </a:lnSpc>
              <a:buNone/>
            </a:pPr>
            <a:r>
              <a:rPr lang="en-US" sz="5400" spc="-14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use?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79476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5B6B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Choosing the product, the mode and the model — in that order.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62636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989A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Snapshot 2026-09-22 · verify current model names before use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3035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23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spc="-60" kern="0" dirty="0">
                <a:solidFill>
                  <a:srgbClr val="0A0E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this </a:t>
            </a:r>
            <a:pPr indent="0" marL="0">
              <a:lnSpc>
                <a:spcPts val="4000"/>
              </a:lnSpc>
              <a:buNone/>
            </a:pPr>
            <a:r>
              <a:rPr lang="en-US" sz="3400" b="1" spc="-60" kern="0" dirty="0">
                <a:solidFill>
                  <a:srgbClr val="1231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covers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820095" cy="20117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13055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130552"/>
            <a:ext cx="10134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E2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Why “which model is best?” is the wrong question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551176"/>
            <a:ext cx="10820095" cy="7315"/>
          </a:xfrm>
          <a:prstGeom prst="rect">
            <a:avLst/>
          </a:prstGeom>
          <a:solidFill>
            <a:srgbClr val="E3E8E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6060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606040"/>
            <a:ext cx="10134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E2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four layers — task, capability, product, model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3026664"/>
            <a:ext cx="10820095" cy="7315"/>
          </a:xfrm>
          <a:prstGeom prst="rect">
            <a:avLst/>
          </a:prstGeom>
          <a:solidFill>
            <a:srgbClr val="E3E8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308152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081528"/>
            <a:ext cx="10134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E2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Seven questions that decide it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3502152"/>
            <a:ext cx="10820095" cy="7315"/>
          </a:xfrm>
          <a:prstGeom prst="rect">
            <a:avLst/>
          </a:prstGeom>
          <a:solidFill>
            <a:srgbClr val="E3E8E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355701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57016"/>
            <a:ext cx="10134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E2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Three practical rungs and why price gaps vary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" y="3977640"/>
            <a:ext cx="10820095" cy="7315"/>
          </a:xfrm>
          <a:prstGeom prst="rect">
            <a:avLst/>
          </a:prstGeom>
          <a:solidFill>
            <a:srgbClr val="E3E8E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40325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032504"/>
            <a:ext cx="10134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E2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What people get wrong, and how to test properly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4453128"/>
            <a:ext cx="10820095" cy="7315"/>
          </a:xfrm>
          <a:prstGeom prst="rect">
            <a:avLst/>
          </a:prstGeom>
          <a:solidFill>
            <a:srgbClr val="E3E8E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6318504"/>
            <a:ext cx="10271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5A64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House of Ichigo · Learn AI · model selection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3185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3035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23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PREMISE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820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spc="-60" kern="0" dirty="0">
                <a:solidFill>
                  <a:srgbClr val="0A0E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strongest model is often the </a:t>
            </a:r>
            <a:pPr indent="0" marL="0">
              <a:lnSpc>
                <a:spcPts val="4000"/>
              </a:lnSpc>
              <a:buNone/>
            </a:pPr>
            <a:r>
              <a:rPr lang="en-US" sz="3400" b="1" spc="-60" kern="0" dirty="0">
                <a:solidFill>
                  <a:srgbClr val="1231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wrong</a:t>
            </a:r>
            <a:pPr indent="0" marL="0">
              <a:lnSpc>
                <a:spcPts val="4000"/>
              </a:lnSpc>
              <a:buNone/>
            </a:pPr>
            <a:r>
              <a:rPr lang="en-US" sz="3400" spc="-60" kern="0" dirty="0">
                <a:solidFill>
                  <a:srgbClr val="0A0E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one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01952"/>
            <a:ext cx="10820095" cy="20117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221992"/>
            <a:ext cx="3301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30" kern="0" dirty="0">
                <a:solidFill>
                  <a:srgbClr val="0A0E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96896"/>
            <a:ext cx="3301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5A64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 the work happens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26080"/>
            <a:ext cx="33018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A0E2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 chat window, a research mode, a coding agent, an automated pipeline.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444898" y="2221992"/>
            <a:ext cx="3301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30" kern="0" dirty="0">
                <a:solidFill>
                  <a:srgbClr val="0A0E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444898" y="2596896"/>
            <a:ext cx="3301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5A64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How capable the engine is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444898" y="2926080"/>
            <a:ext cx="33018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A0E2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Fast, balanced or frontier. The part everyone argues about.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03997" y="2221992"/>
            <a:ext cx="3301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30" kern="0" dirty="0">
                <a:solidFill>
                  <a:srgbClr val="0A0E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Tool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203997" y="2596896"/>
            <a:ext cx="3301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5A64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the system can actually do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203997" y="2926080"/>
            <a:ext cx="33018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A0E2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Search the web, open your files, run code, edit a repository.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4325112"/>
            <a:ext cx="32004" cy="777240"/>
          </a:xfrm>
          <a:prstGeom prst="rect">
            <a:avLst/>
          </a:prstGeom>
          <a:solidFill>
            <a:srgbClr val="1231D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41832" y="4325112"/>
            <a:ext cx="1056406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spc="-30" kern="0" dirty="0">
                <a:solidFill>
                  <a:srgbClr val="0A0E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weaker model inside the right product beats a stronger model in the wrong one.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6318504"/>
            <a:ext cx="10271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5A64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House of Ichigo · Learn AI · model selection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0774375" y="63185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3035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23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ROUTE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spc="-60" kern="0" dirty="0">
                <a:solidFill>
                  <a:srgbClr val="0A0E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Four layers. Pick the model </a:t>
            </a:r>
            <a:pPr indent="0" marL="0">
              <a:lnSpc>
                <a:spcPts val="4000"/>
              </a:lnSpc>
              <a:buNone/>
            </a:pPr>
            <a:r>
              <a:rPr lang="en-US" sz="3400" b="1" spc="-60" kern="0" dirty="0">
                <a:solidFill>
                  <a:srgbClr val="1231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820095" cy="20117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130552"/>
            <a:ext cx="243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A64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32304"/>
            <a:ext cx="2430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-30" kern="0" dirty="0">
                <a:solidFill>
                  <a:srgbClr val="0A0E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Task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07792"/>
            <a:ext cx="2430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A0E2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What is the output, and who reads it?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99384" y="2130552"/>
            <a:ext cx="7315" cy="1920240"/>
          </a:xfrm>
          <a:prstGeom prst="rect">
            <a:avLst/>
          </a:prstGeom>
          <a:solidFill>
            <a:srgbClr val="E3E8E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82264" y="2130552"/>
            <a:ext cx="243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A64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482264" y="2432304"/>
            <a:ext cx="2430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-30" kern="0" dirty="0">
                <a:solidFill>
                  <a:srgbClr val="0A0E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Capability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3482264" y="2907792"/>
            <a:ext cx="2430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A0E2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Search, long documents, vision, code execution.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95848" y="2130552"/>
            <a:ext cx="7315" cy="1920240"/>
          </a:xfrm>
          <a:prstGeom prst="rect">
            <a:avLst/>
          </a:prstGeom>
          <a:solidFill>
            <a:srgbClr val="E3E8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78728" y="2130552"/>
            <a:ext cx="243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A64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278728" y="2432304"/>
            <a:ext cx="2430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-30" kern="0" dirty="0">
                <a:solidFill>
                  <a:srgbClr val="0A0E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Product &amp; tools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6278728" y="2907792"/>
            <a:ext cx="2430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A0E2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Chat, research mode, coding agent, pipeline.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892311" y="2130552"/>
            <a:ext cx="7315" cy="1920240"/>
          </a:xfrm>
          <a:prstGeom prst="rect">
            <a:avLst/>
          </a:prstGeom>
          <a:solidFill>
            <a:srgbClr val="E3E8E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075191" y="2130552"/>
            <a:ext cx="243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A64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075191" y="2432304"/>
            <a:ext cx="2430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-30" kern="0" dirty="0">
                <a:solidFill>
                  <a:srgbClr val="1231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 tier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9075191" y="2907792"/>
            <a:ext cx="2430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A0E2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Only now. And rarely the frontier.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85800" y="4416552"/>
            <a:ext cx="10820095" cy="7315"/>
          </a:xfrm>
          <a:prstGeom prst="rect">
            <a:avLst/>
          </a:prstGeom>
          <a:solidFill>
            <a:srgbClr val="E3E8E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4599432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47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Each layer removes candidates. By the time you reach the model, most of the decision is already made.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318504"/>
            <a:ext cx="10271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5A64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House of Ichigo · Learn AI · model selection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74375" y="63185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FA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METHOD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10896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spc="-12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Seven questions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0690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5B6B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Stop at the first one that decides it.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3035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23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SEVEN QUESTIONS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spc="-60" kern="0" dirty="0">
                <a:solidFill>
                  <a:srgbClr val="0A0E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First, what the task </a:t>
            </a:r>
            <a:pPr indent="0" marL="0">
              <a:lnSpc>
                <a:spcPts val="4000"/>
              </a:lnSpc>
              <a:buNone/>
            </a:pPr>
            <a:r>
              <a:rPr lang="en-US" sz="3400" b="1" spc="-60" kern="0" dirty="0">
                <a:solidFill>
                  <a:srgbClr val="1231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requires</a:t>
            </a:r>
            <a:pPr indent="0" marL="0">
              <a:lnSpc>
                <a:spcPts val="4000"/>
              </a:lnSpc>
              <a:buNone/>
            </a:pP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820095" cy="20117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1031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3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6654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spc="-20" kern="0" dirty="0">
                <a:solidFill>
                  <a:srgbClr val="0A0E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Does the answer depend on information that can change?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71032" y="2084832"/>
            <a:ext cx="27432" cy="713232"/>
          </a:xfrm>
          <a:prstGeom prst="rect">
            <a:avLst/>
          </a:prstGeom>
          <a:solidFill>
            <a:srgbClr val="1231D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72200" y="2066544"/>
            <a:ext cx="5333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A0E2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Yes → live search is mandatory, and citations if anyone checks the claims. A model without search answers confidently and wrongly.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2889504"/>
            <a:ext cx="10820095" cy="7315"/>
          </a:xfrm>
          <a:prstGeom prst="rect">
            <a:avLst/>
          </a:prstGeom>
          <a:solidFill>
            <a:srgbClr val="E3E8E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0358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3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99923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spc="-20" kern="0" dirty="0">
                <a:solidFill>
                  <a:srgbClr val="0A0E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Is the work tied to a particular environment?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999232"/>
            <a:ext cx="5333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A0E2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Drive, SharePoint, a repository, a database. Whatever reaches the data wins — integration outweighs a modest quality difference.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3822192"/>
            <a:ext cx="10820095" cy="7315"/>
          </a:xfrm>
          <a:prstGeom prst="rect">
            <a:avLst/>
          </a:prstGeom>
          <a:solidFill>
            <a:srgbClr val="E3E8E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396849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3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9319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spc="-20" kern="0" dirty="0">
                <a:solidFill>
                  <a:srgbClr val="0A0E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many files, and how long?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3931920"/>
            <a:ext cx="5333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A0E2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 few: attach them. One very long one: long-document handling. Dozens: file search. Thousands: an indexing project, not a chat.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4754880"/>
            <a:ext cx="10820095" cy="7315"/>
          </a:xfrm>
          <a:prstGeom prst="rect">
            <a:avLst/>
          </a:prstGeom>
          <a:solidFill>
            <a:srgbClr val="E3E8E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490118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3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86460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spc="-20" kern="0" dirty="0">
                <a:solidFill>
                  <a:srgbClr val="0A0E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is in the input besides text?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4864608"/>
            <a:ext cx="5333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A0E2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Charts, scans, audio, video. Check this before comparing intelligence — a smarter model that cannot see the chart is useless.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6318504"/>
            <a:ext cx="10271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5A64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House of Ichigo · Learn AI · model selection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0774375" y="63185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3035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23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SEVEN QUESTIONS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spc="-60" kern="0" dirty="0">
                <a:solidFill>
                  <a:srgbClr val="0A0E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Then, what you are </a:t>
            </a:r>
            <a:pPr indent="0" marL="0">
              <a:lnSpc>
                <a:spcPts val="4000"/>
              </a:lnSpc>
              <a:buNone/>
            </a:pPr>
            <a:r>
              <a:rPr lang="en-US" sz="3400" b="1" spc="-60" kern="0" dirty="0">
                <a:solidFill>
                  <a:srgbClr val="1231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optimising for</a:t>
            </a:r>
            <a:pPr indent="0" marL="0">
              <a:lnSpc>
                <a:spcPts val="4000"/>
              </a:lnSpc>
              <a:buNone/>
            </a:pP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820095" cy="20117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1031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3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6654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spc="-20" kern="0" dirty="0">
                <a:solidFill>
                  <a:srgbClr val="0A0E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hard is the thinking, honestly?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2066544"/>
            <a:ext cx="5333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A0E2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Routine work on the flagship wastes money. Client-facing work on the cheap tier costs more the first time someone has to fix it.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2889504"/>
            <a:ext cx="10820095" cy="7315"/>
          </a:xfrm>
          <a:prstGeom prst="rect">
            <a:avLst/>
          </a:prstGeom>
          <a:solidFill>
            <a:srgbClr val="E3E8E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30358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3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99923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spc="-20" kern="0" dirty="0">
                <a:solidFill>
                  <a:srgbClr val="0A0E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Which constraint actually binds — quality, speed or cost?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2999232"/>
            <a:ext cx="5333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A0E2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One usually dominates. Name it, optimise for it, and say plainly what was traded away.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3822192"/>
            <a:ext cx="10820095" cy="7315"/>
          </a:xfrm>
          <a:prstGeom prst="rect">
            <a:avLst/>
          </a:prstGeom>
          <a:solidFill>
            <a:srgbClr val="E3E8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96849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3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9319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spc="-20" kern="0" dirty="0">
                <a:solidFill>
                  <a:srgbClr val="0A0E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Is the data sensitive or regulated?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71032" y="3950208"/>
            <a:ext cx="27432" cy="713232"/>
          </a:xfrm>
          <a:prstGeom prst="rect">
            <a:avLst/>
          </a:prstGeom>
          <a:solidFill>
            <a:srgbClr val="1231D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72200" y="3931920"/>
            <a:ext cx="5333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A0E2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 hard gate, not a preference. Use what the organisation has approved, even when it is the weaker tool.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6318504"/>
            <a:ext cx="10271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5A64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House of Ichigo · Learn AI · model selection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0774375" y="63185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3035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23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 TRANSLATION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spc="-60" kern="0" dirty="0">
                <a:solidFill>
                  <a:srgbClr val="0A0E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Three practical </a:t>
            </a:r>
            <a:pPr indent="0" marL="0">
              <a:lnSpc>
                <a:spcPts val="4000"/>
              </a:lnSpc>
              <a:buNone/>
            </a:pPr>
            <a:r>
              <a:rPr lang="en-US" sz="3400" b="1" spc="-60" kern="0" dirty="0">
                <a:solidFill>
                  <a:srgbClr val="1231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rungs</a:t>
            </a:r>
            <a:pPr indent="0" marL="0">
              <a:lnSpc>
                <a:spcPts val="4000"/>
              </a:lnSpc>
              <a:buNone/>
            </a:pPr>
            <a:r>
              <a:rPr lang="en-US" sz="3400" spc="-60" kern="0" dirty="0">
                <a:solidFill>
                  <a:srgbClr val="0A0E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without fixed price bands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820095" cy="20117"/>
          </a:xfrm>
          <a:prstGeom prst="rect">
            <a:avLst/>
          </a:prstGeom>
          <a:solidFill>
            <a:srgbClr val="0A0E27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03120"/>
          <a:ext cx="1082009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702552"/>
                <a:gridCol w="18288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spc="140" kern="0" dirty="0">
                          <a:solidFill>
                            <a:srgbClr val="5A647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RUNG</a:t>
                      </a:r>
                      <a:endParaRPr lang="en-US" sz="9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spc="140" kern="0" dirty="0">
                          <a:solidFill>
                            <a:srgbClr val="5A647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WHAT IT IS FOR</a:t>
                      </a:r>
                      <a:endParaRPr lang="en-US" sz="9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spc="140" kern="0" dirty="0">
                          <a:solidFill>
                            <a:srgbClr val="5A647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COST TENDENCY</a:t>
                      </a:r>
                      <a:endParaRPr lang="en-US" sz="9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A0E2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Fast / light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A0E27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High volume and repetitive: classification, extraction, short summaries, quick answers.</a:t>
                      </a:r>
                      <a:endParaRPr lang="en-US" sz="135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231D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LOWEST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A0E2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Balanced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A0E27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Most real work: drafting, analysis, everyday coding, document work. The working default.</a:t>
                      </a:r>
                      <a:endParaRPr lang="en-US" sz="135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231D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HIGHER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A0E2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Frontier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A0E27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Hard reasoning, architecture, long autonomous runs, anything expensive to get wrong.</a:t>
                      </a:r>
                      <a:endParaRPr lang="en-US" sz="135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231D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HIGHEST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2414016"/>
            <a:ext cx="10820095" cy="10973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464515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47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Provider price gaps vary too much for one multiplier. Verify current pricing, then measure cost per successful task. In consumer apps, use the thinking control: fast, think harder, maximum.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6318504"/>
            <a:ext cx="10271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5A64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House of Ichigo · Learn AI · model selection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0774375" y="63185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3035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23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SNAPSHOT · 2026-09-22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spc="-60" kern="0" dirty="0">
                <a:solidFill>
                  <a:srgbClr val="0A0E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each provider calls them </a:t>
            </a:r>
            <a:pPr indent="0" marL="0">
              <a:lnSpc>
                <a:spcPts val="4000"/>
              </a:lnSpc>
              <a:buNone/>
            </a:pPr>
            <a:r>
              <a:rPr lang="en-US" sz="3400" b="1" spc="-60" kern="0" dirty="0">
                <a:solidFill>
                  <a:srgbClr val="1231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today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820095" cy="20117"/>
          </a:xfrm>
          <a:prstGeom prst="rect">
            <a:avLst/>
          </a:prstGeom>
          <a:solidFill>
            <a:srgbClr val="0A0E27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03120"/>
          <a:ext cx="1082009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2926080"/>
                <a:gridCol w="295351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spc="140" kern="0" dirty="0">
                          <a:solidFill>
                            <a:srgbClr val="5A647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RUNG</a:t>
                      </a:r>
                      <a:endParaRPr lang="en-US" sz="9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spc="140" kern="0" dirty="0">
                          <a:solidFill>
                            <a:srgbClr val="5A647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OPENAI</a:t>
                      </a:r>
                      <a:endParaRPr lang="en-US" sz="9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spc="140" kern="0" dirty="0">
                          <a:solidFill>
                            <a:srgbClr val="5A647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ANTHROPIC</a:t>
                      </a:r>
                      <a:endParaRPr lang="en-US" sz="9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spc="140" kern="0" dirty="0">
                          <a:solidFill>
                            <a:srgbClr val="5A647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GOOGLE</a:t>
                      </a:r>
                      <a:endParaRPr lang="en-US" sz="9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A0E2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Fast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A0E27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GPT-5.6 Luna</a:t>
                      </a:r>
                      <a:endParaRPr lang="en-US" sz="135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A0E27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Claude Haiku 4.5</a:t>
                      </a:r>
                      <a:endParaRPr lang="en-US" sz="135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A0E27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Gemini 3.5 Flash-Lite</a:t>
                      </a:r>
                      <a:endParaRPr lang="en-US" sz="135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A0E2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Balanced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A0E27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GPT-5.6 Terra</a:t>
                      </a:r>
                      <a:endParaRPr lang="en-US" sz="135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A0E27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Claude Sonnet 5</a:t>
                      </a:r>
                      <a:endParaRPr lang="en-US" sz="135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A0E27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Gemini 3.8 Flash</a:t>
                      </a:r>
                      <a:endParaRPr lang="en-US" sz="135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A0E2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Frontier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A0E27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GPT-5.6 Sol · GPT-6 Astra</a:t>
                      </a:r>
                      <a:endParaRPr lang="en-US" sz="135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A0E27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Claude Opus 5 · Fable 5.1</a:t>
                      </a:r>
                      <a:endParaRPr lang="en-US" sz="135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A0E27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Gemini 3.1 Pro · Deep Think</a:t>
                      </a:r>
                      <a:endParaRPr lang="en-US" sz="135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2414016"/>
            <a:ext cx="10820095" cy="10973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7" name="Shape 4"/>
          <p:cNvSpPr/>
          <p:nvPr/>
        </p:nvSpPr>
        <p:spPr>
          <a:xfrm>
            <a:off x="685800" y="4370832"/>
            <a:ext cx="32004" cy="749808"/>
          </a:xfrm>
          <a:prstGeom prst="rect">
            <a:avLst/>
          </a:prstGeom>
          <a:solidFill>
            <a:srgbClr val="1231D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41832" y="4370832"/>
            <a:ext cx="1056406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A0E2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This table is the part of the deck that goes stale. It was accurate on 2026-09-22 and should be checked against each provider's own documentation before it is shown again.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6318504"/>
            <a:ext cx="10271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5A64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House of Ichigo · Learn AI · model selection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0774375" y="63185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3035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23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PEOPLE GET WRONG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spc="-60" kern="0" dirty="0">
                <a:solidFill>
                  <a:srgbClr val="0A0E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Six rules of </a:t>
            </a:r>
            <a:pPr indent="0" marL="0">
              <a:lnSpc>
                <a:spcPts val="4000"/>
              </a:lnSpc>
              <a:buNone/>
            </a:pPr>
            <a:r>
              <a:rPr lang="en-US" sz="3400" b="1" spc="-60" kern="0" dirty="0">
                <a:solidFill>
                  <a:srgbClr val="1231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thumb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820095" cy="20117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130552"/>
            <a:ext cx="509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spc="-20" kern="0" dirty="0">
                <a:solidFill>
                  <a:srgbClr val="0A0E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Cost per successful task, not per token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14600"/>
            <a:ext cx="5090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 cheap model that retries twice and needs a human fix is the expensive one.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3063240"/>
            <a:ext cx="5090008" cy="7315"/>
          </a:xfrm>
          <a:prstGeom prst="rect">
            <a:avLst/>
          </a:prstGeom>
          <a:solidFill>
            <a:srgbClr val="E3E8E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15888" y="2130552"/>
            <a:ext cx="509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spc="-20" kern="0" dirty="0">
                <a:solidFill>
                  <a:srgbClr val="0A0E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“Analyse this PDF” is not one task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6415888" y="2514600"/>
            <a:ext cx="5090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 summary, one exact fact, a table and a judgement route to four different setups.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15888" y="3063240"/>
            <a:ext cx="5090008" cy="7315"/>
          </a:xfrm>
          <a:prstGeom prst="rect">
            <a:avLst/>
          </a:prstGeom>
          <a:solidFill>
            <a:srgbClr val="E3E8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3227832"/>
            <a:ext cx="509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spc="-20" kern="0" dirty="0">
                <a:solidFill>
                  <a:srgbClr val="0A0E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big context window is not comprehension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611880"/>
            <a:ext cx="5090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Fitting the text in is not the same as reasoning well over all of 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4160520"/>
            <a:ext cx="5090008" cy="7315"/>
          </a:xfrm>
          <a:prstGeom prst="rect">
            <a:avLst/>
          </a:prstGeom>
          <a:solidFill>
            <a:srgbClr val="E3E8E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15888" y="3227832"/>
            <a:ext cx="509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spc="-20" kern="0" dirty="0">
                <a:solidFill>
                  <a:srgbClr val="0A0E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“Write code” is four different jobs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415888" y="3611880"/>
            <a:ext cx="5090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One function, a bug hunt, a repo-wide refactor and an architecture review differ.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15888" y="4160520"/>
            <a:ext cx="5090008" cy="7315"/>
          </a:xfrm>
          <a:prstGeom prst="rect">
            <a:avLst/>
          </a:prstGeom>
          <a:solidFill>
            <a:srgbClr val="E3E8E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4325112"/>
            <a:ext cx="509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spc="-20" kern="0" dirty="0">
                <a:solidFill>
                  <a:srgbClr val="0A0E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Benchmarks shortlist, they do not decide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709160"/>
            <a:ext cx="5090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Run three real examples through two candidates. Ten minutes beats a leaderboard.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15888" y="4325112"/>
            <a:ext cx="509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spc="-20" kern="0" dirty="0">
                <a:solidFill>
                  <a:srgbClr val="0A0E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 not switch provider for a few points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6415888" y="4709160"/>
            <a:ext cx="5090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Connectors, ecosystem fit and the subscription already paid for matter more.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6318504"/>
            <a:ext cx="10271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5A64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House of Ichigo · Learn AI · model selection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774375" y="63185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3035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23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HOW TO DECIDE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spc="-60" kern="0" dirty="0">
                <a:solidFill>
                  <a:srgbClr val="0A0E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test that beats every </a:t>
            </a:r>
            <a:pPr indent="0" marL="0">
              <a:lnSpc>
                <a:spcPts val="4000"/>
              </a:lnSpc>
              <a:buNone/>
            </a:pPr>
            <a:r>
              <a:rPr lang="en-US" sz="3400" b="1" spc="-60" kern="0" dirty="0">
                <a:solidFill>
                  <a:srgbClr val="1231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leaderboard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820095" cy="20117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221992"/>
            <a:ext cx="3301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123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42032"/>
            <a:ext cx="33018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spc="-30" kern="0" dirty="0">
                <a:solidFill>
                  <a:srgbClr val="0A0E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Take three real examples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55264"/>
            <a:ext cx="33018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A0E2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Not a toy prompt. Three tasks from actual work, with the same files and constraints.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444898" y="2221992"/>
            <a:ext cx="3301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123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44898" y="2542032"/>
            <a:ext cx="33018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spc="-30" kern="0" dirty="0">
                <a:solidFill>
                  <a:srgbClr val="0A0E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Run them through two candidates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444898" y="3255264"/>
            <a:ext cx="33018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A0E2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Shortlisted from the decision tree — not from a ranking table.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203997" y="2221992"/>
            <a:ext cx="3301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123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03997" y="2542032"/>
            <a:ext cx="33018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spc="-30" kern="0" dirty="0">
                <a:solidFill>
                  <a:srgbClr val="0A0E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Judge blind, then pin the winner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8203997" y="3255264"/>
            <a:ext cx="33018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A0E2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Fix the setup, fix the output format, and re-test when something changes.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4553712"/>
            <a:ext cx="10820095" cy="7315"/>
          </a:xfrm>
          <a:prstGeom prst="rect">
            <a:avLst/>
          </a:prstGeom>
          <a:solidFill>
            <a:srgbClr val="E3E8E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4736592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47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Ten minutes of this reflects your own house style, your own data and your own quality bar. No published benchmark does.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318504"/>
            <a:ext cx="10271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5A64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House of Ichigo · Learn AI · model selection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3185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spc="-10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strongest model is </a:t>
            </a:r>
            <a:pPr indent="0" marL="0">
              <a:lnSpc>
                <a:spcPts val="5000"/>
              </a:lnSpc>
              <a:buNone/>
            </a:pPr>
            <a:r>
              <a:rPr lang="en-US" sz="4000" b="1" spc="-100" kern="0" dirty="0">
                <a:solidFill>
                  <a:srgbClr val="7FA0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rarely</a:t>
            </a:r>
            <a:pPr indent="0" marL="0">
              <a:lnSpc>
                <a:spcPts val="5000"/>
              </a:lnSpc>
              <a:buNone/>
            </a:pPr>
            <a:r>
              <a:rPr lang="en-US" sz="4000" spc="-10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the right one.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023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5B6B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Route by what the task requires, not by what scores highest.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2860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FA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6974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spc="-9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Install the skill. Ask it </a:t>
            </a:r>
            <a:pPr indent="0" marL="0">
              <a:lnSpc>
                <a:spcPts val="4400"/>
              </a:lnSpc>
              <a:buNone/>
            </a:pPr>
            <a:r>
              <a:rPr lang="en-US" sz="3600" b="1" spc="-90" kern="0" dirty="0">
                <a:solidFill>
                  <a:srgbClr val="7FA0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your</a:t>
            </a:r>
            <a:pPr indent="0" marL="0">
              <a:lnSpc>
                <a:spcPts val="4400"/>
              </a:lnSpc>
              <a:buNone/>
            </a:pPr>
            <a:r>
              <a:rPr lang="en-US" sz="3600" spc="-9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question.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84048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B5B6B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which-ai-model skill runs this decision tree for you and verifies current model names by live search — so the answer is never read from a stale table.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480060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github.com/houseofichigo/skill-resources/tree/main/skills/which-ai-model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31850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989A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House of Ichigo · Equipped to run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House of Ichigo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Which AI Model Should You Use?</dc:title>
  <dc:subject>PptxGenJS Presentation</dc:subject>
  <dc:creator>House of Ichigo</dc:creator>
  <cp:lastModifiedBy>House of Ichigo</cp:lastModifiedBy>
  <cp:revision>1</cp:revision>
  <dcterms:created xsi:type="dcterms:W3CDTF">2026-09-22T16:09:31Z</dcterms:created>
  <dcterms:modified xsi:type="dcterms:W3CDTF">2026-09-22T16:09:31Z</dcterms:modified>
</cp:coreProperties>
</file>